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2744"/>
                </a:solidFill>
              </a:defRPr>
            </a:pPr>
            <a:r>
              <a:t>Deals Integration | Supplier &amp; Customer Onboarding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A7A"/>
                </a:solidFill>
              </a:defRPr>
            </a:pPr>
            <a:r>
              <a:t>Business process scenario — based on current understanding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03120"/>
            <a:ext cx="2011680" cy="1417320"/>
          </a:xfrm>
          <a:prstGeom prst="roundRect">
            <a:avLst/>
          </a:prstGeom>
          <a:solidFill>
            <a:srgbClr val="E7F2F9"/>
          </a:solidFill>
          <a:ln w="21590">
            <a:solidFill>
              <a:srgbClr val="1E6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52744"/>
                </a:solidFill>
              </a:defRPr>
            </a:pPr>
            <a:r>
              <a:t>1. Create Entity</a:t>
            </a:r>
            <a:br/>
            <a:r>
              <a:t>Entity created in Deals Platform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14600" y="2811780"/>
            <a:ext cx="310896" cy="0"/>
          </a:xfrm>
          <a:prstGeom prst="line">
            <a:avLst/>
          </a:prstGeom>
          <a:ln w="34290">
            <a:solidFill>
              <a:srgbClr val="00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>
          <a:xfrm rot="5400000">
            <a:off x="2743200" y="2729484"/>
            <a:ext cx="164592" cy="164592"/>
          </a:xfrm>
          <a:prstGeom prst="triangle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52928" y="2103120"/>
            <a:ext cx="2011680" cy="1417320"/>
          </a:xfrm>
          <a:prstGeom prst="roundRect">
            <a:avLst/>
          </a:prstGeom>
          <a:solidFill>
            <a:srgbClr val="E7F2F9"/>
          </a:solidFill>
          <a:ln w="21590">
            <a:solidFill>
              <a:srgbClr val="1E6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52744"/>
                </a:solidFill>
              </a:defRPr>
            </a:pPr>
            <a:r>
              <a:t>2. Oracle Processing</a:t>
            </a:r>
            <a:br/>
            <a:r>
              <a:t>Entity processed in Oracle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64608" y="2811780"/>
            <a:ext cx="310896" cy="0"/>
          </a:xfrm>
          <a:prstGeom prst="line">
            <a:avLst/>
          </a:prstGeom>
          <a:ln w="34290">
            <a:solidFill>
              <a:srgbClr val="00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5093208" y="2729484"/>
            <a:ext cx="164592" cy="164592"/>
          </a:xfrm>
          <a:prstGeom prst="triangle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02936" y="2103120"/>
            <a:ext cx="2011680" cy="1417320"/>
          </a:xfrm>
          <a:prstGeom prst="roundRect">
            <a:avLst/>
          </a:prstGeom>
          <a:solidFill>
            <a:srgbClr val="E7F2F9"/>
          </a:solidFill>
          <a:ln w="21590">
            <a:solidFill>
              <a:srgbClr val="1E6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52744"/>
                </a:solidFill>
              </a:defRPr>
            </a:pPr>
            <a:r>
              <a:t>3. Authorization</a:t>
            </a:r>
            <a:br/>
            <a:r>
              <a:t>Oracle sends spend-authorized signal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14616" y="2811780"/>
            <a:ext cx="310896" cy="0"/>
          </a:xfrm>
          <a:prstGeom prst="line">
            <a:avLst/>
          </a:prstGeom>
          <a:ln w="34290">
            <a:solidFill>
              <a:srgbClr val="00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7443216" y="2729484"/>
            <a:ext cx="164592" cy="164592"/>
          </a:xfrm>
          <a:prstGeom prst="triangle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52944" y="2103120"/>
            <a:ext cx="2011680" cy="1417320"/>
          </a:xfrm>
          <a:prstGeom prst="roundRect">
            <a:avLst/>
          </a:prstGeom>
          <a:solidFill>
            <a:srgbClr val="E7F2F9"/>
          </a:solidFill>
          <a:ln w="21590">
            <a:solidFill>
              <a:srgbClr val="1E6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52744"/>
                </a:solidFill>
              </a:defRPr>
            </a:pPr>
            <a:r>
              <a:t>4. Business Onboarding</a:t>
            </a:r>
            <a:br/>
            <a:r>
              <a:t>Business onboards supplier / customer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64624" y="2811780"/>
            <a:ext cx="310896" cy="0"/>
          </a:xfrm>
          <a:prstGeom prst="line">
            <a:avLst/>
          </a:prstGeom>
          <a:ln w="34290">
            <a:solidFill>
              <a:srgbClr val="00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9793224" y="2729484"/>
            <a:ext cx="164592" cy="164592"/>
          </a:xfrm>
          <a:prstGeom prst="triangle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902952" y="2103120"/>
            <a:ext cx="2011680" cy="1417320"/>
          </a:xfrm>
          <a:prstGeom prst="roundRect">
            <a:avLst/>
          </a:prstGeom>
          <a:solidFill>
            <a:srgbClr val="E7F2F9"/>
          </a:solidFill>
          <a:ln w="21590">
            <a:solidFill>
              <a:srgbClr val="1E6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52744"/>
                </a:solidFill>
              </a:defRPr>
            </a:pPr>
            <a:r>
              <a:t>5. Enable Transactions</a:t>
            </a:r>
            <a:br/>
            <a:r>
              <a:t>Deals Platform enables entity for transactions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6634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B6A7A"/>
                </a:solidFill>
              </a:defRPr>
            </a:pPr>
            <a:r>
              <a:t>Assumption: Authorization and onboarding must be completed before the entity is enabled for Deals transactions.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2744"/>
                </a:solidFill>
              </a:defRPr>
            </a:pPr>
            <a:r>
              <a:t>Deals Integration | Revenue &amp; Deposit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A7A"/>
                </a:solidFill>
              </a:defRPr>
            </a:pPr>
            <a:r>
              <a:t>Transactions are processed independently in arrival order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77440"/>
            <a:ext cx="1965960" cy="960120"/>
          </a:xfrm>
          <a:prstGeom prst="roundRect">
            <a:avLst/>
          </a:prstGeom>
          <a:solidFill>
            <a:srgbClr val="E7F2F9"/>
          </a:solidFill>
          <a:ln w="21590">
            <a:solidFill>
              <a:srgbClr val="1E6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52744"/>
                </a:solidFill>
              </a:defRPr>
            </a:pPr>
            <a:r>
              <a:t>Deals Platform</a:t>
            </a:r>
            <a:br/>
            <a:r>
              <a:t>Incoming Transactions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645920"/>
            <a:ext cx="2148840" cy="960120"/>
          </a:xfrm>
          <a:prstGeom prst="roundRect">
            <a:avLst/>
          </a:prstGeom>
          <a:solidFill>
            <a:srgbClr val="E7F2F9"/>
          </a:solidFill>
          <a:ln w="21590">
            <a:solidFill>
              <a:srgbClr val="1E6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52744"/>
                </a:solidFill>
              </a:defRPr>
            </a:pPr>
            <a:r>
              <a:t>Deal Revenue</a:t>
            </a:r>
            <a:br/>
            <a:r>
              <a:t>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3657600"/>
            <a:ext cx="2148840" cy="960120"/>
          </a:xfrm>
          <a:prstGeom prst="roundRect">
            <a:avLst/>
          </a:prstGeom>
          <a:solidFill>
            <a:srgbClr val="E7F2F9"/>
          </a:solidFill>
          <a:ln w="21590">
            <a:solidFill>
              <a:srgbClr val="1E6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52744"/>
                </a:solidFill>
              </a:defRPr>
            </a:pPr>
            <a:r>
              <a:t>Deal Deposit</a:t>
            </a:r>
            <a:br/>
            <a:r>
              <a:t>Integration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2468880" y="2121408"/>
            <a:ext cx="777240" cy="713232"/>
          </a:xfrm>
          <a:prstGeom prst="line">
            <a:avLst/>
          </a:prstGeom>
          <a:ln w="34290">
            <a:solidFill>
              <a:srgbClr val="00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2847543">
            <a:off x="3163824" y="2039112"/>
            <a:ext cx="164592" cy="164592"/>
          </a:xfrm>
          <a:prstGeom prst="triangle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468880" y="2834640"/>
            <a:ext cx="777240" cy="1298447"/>
          </a:xfrm>
          <a:prstGeom prst="line">
            <a:avLst/>
          </a:prstGeom>
          <a:ln w="34290">
            <a:solidFill>
              <a:srgbClr val="00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8945737">
            <a:off x="3163824" y="4050791"/>
            <a:ext cx="164592" cy="164592"/>
          </a:xfrm>
          <a:prstGeom prst="triangle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057400" cy="960120"/>
          </a:xfrm>
          <a:prstGeom prst="roundRect">
            <a:avLst/>
          </a:prstGeom>
          <a:solidFill>
            <a:srgbClr val="E7F2F9"/>
          </a:solidFill>
          <a:ln w="21590">
            <a:solidFill>
              <a:srgbClr val="1E6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52744"/>
                </a:solidFill>
              </a:defRPr>
            </a:pPr>
            <a:r>
              <a:t>Process Revenue</a:t>
            </a:r>
            <a:br/>
            <a:r>
              <a:t>Independently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2057400" cy="960120"/>
          </a:xfrm>
          <a:prstGeom prst="roundRect">
            <a:avLst/>
          </a:prstGeom>
          <a:solidFill>
            <a:srgbClr val="E7F2F9"/>
          </a:solidFill>
          <a:ln w="21590">
            <a:solidFill>
              <a:srgbClr val="1E6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52744"/>
                </a:solidFill>
              </a:defRPr>
            </a:pPr>
            <a:r>
              <a:t>Process Deposit</a:t>
            </a:r>
            <a:br/>
            <a:r>
              <a:t>Independently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94960" y="2121408"/>
            <a:ext cx="822960" cy="0"/>
          </a:xfrm>
          <a:prstGeom prst="line">
            <a:avLst/>
          </a:prstGeom>
          <a:ln w="34290">
            <a:solidFill>
              <a:srgbClr val="00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6135624" y="2039112"/>
            <a:ext cx="164592" cy="164592"/>
          </a:xfrm>
          <a:prstGeom prst="triangle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394960" y="4133087"/>
            <a:ext cx="822960" cy="0"/>
          </a:xfrm>
          <a:prstGeom prst="line">
            <a:avLst/>
          </a:prstGeom>
          <a:ln w="34290">
            <a:solidFill>
              <a:srgbClr val="00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6135624" y="4050791"/>
            <a:ext cx="164592" cy="164592"/>
          </a:xfrm>
          <a:prstGeom prst="triangle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0" y="2423160"/>
            <a:ext cx="2331720" cy="1417320"/>
          </a:xfrm>
          <a:prstGeom prst="roundRect">
            <a:avLst/>
          </a:prstGeom>
          <a:solidFill>
            <a:srgbClr val="E7F2F9"/>
          </a:solidFill>
          <a:ln w="21590">
            <a:solidFill>
              <a:srgbClr val="1E6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52744"/>
                </a:solidFill>
              </a:defRPr>
            </a:pPr>
            <a:r>
              <a:t>Send Individual Responses</a:t>
            </a:r>
            <a:br/>
            <a:r>
              <a:t>to Deals Platform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75320" y="2121408"/>
            <a:ext cx="868680" cy="731520"/>
          </a:xfrm>
          <a:prstGeom prst="line">
            <a:avLst/>
          </a:prstGeom>
          <a:ln w="34290">
            <a:solidFill>
              <a:srgbClr val="00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7806054">
            <a:off x="9061704" y="2770632"/>
            <a:ext cx="164592" cy="164592"/>
          </a:xfrm>
          <a:prstGeom prst="triangle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8275320" y="3474720"/>
            <a:ext cx="868680" cy="658367"/>
          </a:xfrm>
          <a:prstGeom prst="line">
            <a:avLst/>
          </a:prstGeom>
          <a:ln w="34290">
            <a:solidFill>
              <a:srgbClr val="00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3170502">
            <a:off x="9061704" y="3392424"/>
            <a:ext cx="164592" cy="164592"/>
          </a:xfrm>
          <a:prstGeom prst="triangle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931920" y="5486400"/>
            <a:ext cx="4389120" cy="685800"/>
          </a:xfrm>
          <a:prstGeom prst="roundRect">
            <a:avLst/>
          </a:prstGeom>
          <a:solidFill>
            <a:srgbClr val="DEF4ED"/>
          </a:solidFill>
          <a:ln w="21590"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52744"/>
                </a:solidFill>
              </a:defRPr>
            </a:pPr>
            <a:r>
              <a:t>Platform applies Deal Deposit to matching Deal Revenue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8321040" y="3840480"/>
            <a:ext cx="1920240" cy="1984248"/>
          </a:xfrm>
          <a:prstGeom prst="line">
            <a:avLst/>
          </a:prstGeom>
          <a:ln w="34290">
            <a:solidFill>
              <a:srgbClr val="00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13443649">
            <a:off x="8238744" y="5742432"/>
            <a:ext cx="164592" cy="164592"/>
          </a:xfrm>
          <a:prstGeom prst="triangle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263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A7A"/>
                </a:solidFill>
              </a:defRPr>
            </a:pPr>
            <a:r>
              <a:t>Revenue and deposit remain separate until the platform performs matching/application.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