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4081760" cy="594360"/>
          </a:xfrm>
          <a:prstGeom prst="roundRect">
            <a:avLst/>
          </a:prstGeom>
          <a:solidFill>
            <a:srgbClr val="14243D"/>
          </a:solidFill>
          <a:ln w="13970">
            <a:solidFill>
              <a:srgbClr val="14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2250" b="1">
                <a:solidFill>
                  <a:srgbClr val="14243D"/>
                </a:solidFill>
                <a:latin typeface="Aptos"/>
              </a:defRPr>
            </a:pPr>
            <a:r>
              <a:t>Platform ↔ Oracle ERP Fusion | Transactions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1371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77D"/>
                </a:solidFill>
              </a:defRPr>
            </a:pPr>
            <a:r>
              <a:t>Editable end-to-end integration architecture • inbound processing • status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280160"/>
            <a:ext cx="2468880" cy="420624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DEALS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280160"/>
            <a:ext cx="2148840" cy="420624"/>
          </a:xfrm>
          <a:prstGeom prst="roundRect">
            <a:avLst/>
          </a:prstGeom>
          <a:solidFill>
            <a:srgbClr val="FFF0D7"/>
          </a:solidFill>
          <a:ln w="13970"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OCI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280160"/>
            <a:ext cx="2377440" cy="420624"/>
          </a:xfrm>
          <a:prstGeom prst="roundRect">
            <a:avLst/>
          </a:prstGeom>
          <a:solidFill>
            <a:srgbClr val="DDF4EF"/>
          </a:solidFill>
          <a:ln w="13970">
            <a:solidFill>
              <a:srgbClr val="DD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ORACLE ATP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280160"/>
            <a:ext cx="4389120" cy="420624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FBE5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ORACLE OIC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1280160"/>
            <a:ext cx="2240280" cy="420624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EDE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ERP FUSION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084831"/>
            <a:ext cx="2304288" cy="960120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1. Generate payload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AP • AR • AR Cash Receipts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Escrow Deposits / Reversals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029968"/>
            <a:ext cx="1956816" cy="868680"/>
          </a:xfrm>
          <a:prstGeom prst="roundRect">
            <a:avLst/>
          </a:prstGeom>
          <a:solidFill>
            <a:srgbClr val="FFF0D7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Enqueue Integrations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Home Transactions • Applications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Called by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3163824"/>
            <a:ext cx="1956816" cy="667512"/>
          </a:xfrm>
          <a:prstGeom prst="roundRect">
            <a:avLst/>
          </a:prstGeom>
          <a:solidFill>
            <a:srgbClr val="FFF0D7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2. OCI Queue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Channel ALS • Real-time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4133087"/>
            <a:ext cx="1956816" cy="731520"/>
          </a:xfrm>
          <a:prstGeom prst="roundRect">
            <a:avLst/>
          </a:prstGeom>
          <a:solidFill>
            <a:srgbClr val="FFF0D7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Dequeue ALS Transactions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Every 2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2103120"/>
            <a:ext cx="2139696" cy="3072384"/>
          </a:xfrm>
          <a:prstGeom prst="roundRect">
            <a:avLst/>
          </a:prstGeom>
          <a:solidFill>
            <a:srgbClr val="DDF4EF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3. ATP staging tables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Payload staged by Dequeue ALS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5. Integration updates status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SUCCESS / ERROR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Pending responses picked by response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83664"/>
            <a:ext cx="4096512" cy="411480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250" b="1">
                <a:solidFill>
                  <a:srgbClr val="14243D"/>
                </a:solidFill>
                <a:latin typeface="Aptos"/>
              </a:defRPr>
            </a:pPr>
            <a:r>
              <a:t>4. Processing integrations • scheduled every 3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414016"/>
            <a:ext cx="4005072" cy="694944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4a. AP Transactions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AP_INVOICE • AP_DEBIT_MEMO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AP_APPLY_INVOICE • AP_UNAPPLY_INVOICE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143232" y="2414016"/>
            <a:ext cx="2075688" cy="694944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Payables (AP)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Invoices • Debit Memos • Applications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777472" y="2761488"/>
            <a:ext cx="36576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3227832"/>
            <a:ext cx="4005072" cy="694944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4b. AR Transactions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APPLY_INVOICE • DEBIT_MEMO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43232" y="3227832"/>
            <a:ext cx="2075688" cy="694944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Receivables (AR)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AR Transactions • Applications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777472" y="3575304"/>
            <a:ext cx="36576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0" y="4041648"/>
            <a:ext cx="4005072" cy="694944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4c. AR Cash Receipts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AR_CASH_DEPOSIT • AR_MISC_RECEIPTS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AR_REVERSE_CASH • AR_CLEAR_DEPOSIT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43232" y="4041648"/>
            <a:ext cx="2075688" cy="694944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Receivables (AR)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Cash Receipts • Applications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77472" y="4389120"/>
            <a:ext cx="36576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0" y="4855464"/>
            <a:ext cx="4005072" cy="694944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4d. Escrow Deposits / Reversals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ESCROW_DEPOSIT • ESCROW_REVERSAL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143232" y="4855464"/>
            <a:ext cx="2075688" cy="694944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050" b="1">
                <a:solidFill>
                  <a:srgbClr val="14243D"/>
                </a:solidFill>
                <a:latin typeface="Aptos"/>
              </a:defRPr>
            </a:pPr>
            <a:r>
              <a:t>Fusion Accounting Hub</a:t>
            </a:r>
          </a:p>
          <a:p>
            <a:pPr algn="ctr">
              <a:defRPr sz="1000" b="0">
                <a:solidFill>
                  <a:srgbClr val="14243D"/>
                </a:solidFill>
                <a:latin typeface="Aptos"/>
              </a:defRPr>
            </a:pPr>
            <a:r>
              <a:t>GL Journals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777472" y="5202936"/>
            <a:ext cx="36576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54112" y="5806440"/>
            <a:ext cx="3986784" cy="822960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6. Status Response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Process ERP payload status response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Pick pending responses &amp; push to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" y="5788152"/>
            <a:ext cx="2267712" cy="676656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7. Platform response queue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2336" y="6784848"/>
            <a:ext cx="2267712" cy="749808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8. Response processed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Correct errors &amp; resend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88336" y="2542032"/>
            <a:ext cx="283464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50208" y="2898648"/>
            <a:ext cx="0" cy="265176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950208" y="3831336"/>
            <a:ext cx="0" cy="301751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28616" y="4507992"/>
            <a:ext cx="301752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370064" y="2852928"/>
            <a:ext cx="356615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370064" y="4690872"/>
            <a:ext cx="356615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84080" y="5669280"/>
            <a:ext cx="0" cy="13716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2670048" y="6181344"/>
            <a:ext cx="5084064" cy="0"/>
          </a:xfrm>
          <a:prstGeom prst="line">
            <a:avLst/>
          </a:prstGeom>
          <a:ln w="21590">
            <a:solidFill>
              <a:srgbClr val="50678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536192" y="6464808"/>
            <a:ext cx="0" cy="32004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990088" y="6812280"/>
            <a:ext cx="8732520" cy="594360"/>
          </a:xfrm>
          <a:prstGeom prst="roundRect">
            <a:avLst/>
          </a:prstGeom>
          <a:solidFill>
            <a:srgbClr val="EDF2F7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Flow: Platform → OCI Queue → ATP staging → OIC processing → ERP Fusion → OIC status response →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4081760" cy="594360"/>
          </a:xfrm>
          <a:prstGeom prst="roundRect">
            <a:avLst/>
          </a:prstGeom>
          <a:solidFill>
            <a:srgbClr val="14243D"/>
          </a:solidFill>
          <a:ln w="13970">
            <a:solidFill>
              <a:srgbClr val="14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2250" b="1">
                <a:solidFill>
                  <a:srgbClr val="14243D"/>
                </a:solidFill>
                <a:latin typeface="Aptos"/>
              </a:defRPr>
            </a:pPr>
            <a:r>
              <a:t>Transactions / Applications | Processing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59536"/>
            <a:ext cx="1371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677D"/>
                </a:solidFill>
              </a:defRPr>
            </a:pPr>
            <a:r>
              <a:t>Four independent OIC processing branches • all shapes and text editable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834640" cy="960120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Platform payload</a:t>
            </a:r>
          </a:p>
          <a:p>
            <a:pPr algn="ctr">
              <a:defRPr sz="1300" b="0">
                <a:solidFill>
                  <a:srgbClr val="14243D"/>
                </a:solidFill>
                <a:latin typeface="Aptos"/>
              </a:defRPr>
            </a:pPr>
            <a:r>
              <a:t>4a. AP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1508760"/>
            <a:ext cx="3017520" cy="960120"/>
          </a:xfrm>
          <a:prstGeom prst="roundRect">
            <a:avLst/>
          </a:prstGeom>
          <a:solidFill>
            <a:srgbClr val="DDF4EF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250" b="1">
                <a:solidFill>
                  <a:srgbClr val="14243D"/>
                </a:solidFill>
                <a:latin typeface="Aptos"/>
              </a:defRPr>
            </a:pPr>
            <a:r>
              <a:t>ATP staging</a:t>
            </a:r>
          </a:p>
          <a:p>
            <a:pPr algn="ctr">
              <a:defRPr sz="1200" b="0">
                <a:solidFill>
                  <a:srgbClr val="14243D"/>
                </a:solidFill>
                <a:latin typeface="Aptos"/>
              </a:defRPr>
            </a:pPr>
            <a:r>
              <a:t>Dequeue ALS • status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3886200" cy="960120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OIC Processing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AP_INVOICE • AP_DEBIT_MEMO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AP_APPLY_INVOICE • AP_UNAPPLY_INVOICE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0" y="1508760"/>
            <a:ext cx="2468880" cy="960120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Payables (AP)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Invoices • Debit Memos • Applications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1984248"/>
            <a:ext cx="45720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12280" y="1984248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201400" y="1984248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3017520"/>
            <a:ext cx="2834640" cy="960120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Platform payload</a:t>
            </a:r>
          </a:p>
          <a:p>
            <a:pPr algn="ctr">
              <a:defRPr sz="1300" b="0">
                <a:solidFill>
                  <a:srgbClr val="14243D"/>
                </a:solidFill>
                <a:latin typeface="Aptos"/>
              </a:defRPr>
            </a:pPr>
            <a:r>
              <a:t>4b. AR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3017520"/>
            <a:ext cx="3017520" cy="960120"/>
          </a:xfrm>
          <a:prstGeom prst="roundRect">
            <a:avLst/>
          </a:prstGeom>
          <a:solidFill>
            <a:srgbClr val="DDF4EF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250" b="1">
                <a:solidFill>
                  <a:srgbClr val="14243D"/>
                </a:solidFill>
                <a:latin typeface="Aptos"/>
              </a:defRPr>
            </a:pPr>
            <a:r>
              <a:t>ATP staging</a:t>
            </a:r>
          </a:p>
          <a:p>
            <a:pPr algn="ctr">
              <a:defRPr sz="1200" b="0">
                <a:solidFill>
                  <a:srgbClr val="14243D"/>
                </a:solidFill>
                <a:latin typeface="Aptos"/>
              </a:defRPr>
            </a:pPr>
            <a:r>
              <a:t>Dequeue ALS • status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017520"/>
            <a:ext cx="3886200" cy="960120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OIC Processing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APPLY_INVOICE • DEBIT_MEMO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3017520"/>
            <a:ext cx="2468880" cy="960120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Receivables (AR)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AR Transactions • Applications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3493008"/>
            <a:ext cx="45720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3493008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01400" y="3493008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526279"/>
            <a:ext cx="2834640" cy="960120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Platform payload</a:t>
            </a:r>
          </a:p>
          <a:p>
            <a:pPr algn="ctr">
              <a:defRPr sz="1300" b="0">
                <a:solidFill>
                  <a:srgbClr val="14243D"/>
                </a:solidFill>
                <a:latin typeface="Aptos"/>
              </a:defRPr>
            </a:pPr>
            <a:r>
              <a:t>4c. AR Cash Receipts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4526279"/>
            <a:ext cx="3017520" cy="960120"/>
          </a:xfrm>
          <a:prstGeom prst="roundRect">
            <a:avLst/>
          </a:prstGeom>
          <a:solidFill>
            <a:srgbClr val="DDF4EF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250" b="1">
                <a:solidFill>
                  <a:srgbClr val="14243D"/>
                </a:solidFill>
                <a:latin typeface="Aptos"/>
              </a:defRPr>
            </a:pPr>
            <a:r>
              <a:t>ATP staging</a:t>
            </a:r>
          </a:p>
          <a:p>
            <a:pPr algn="ctr">
              <a:defRPr sz="1200" b="0">
                <a:solidFill>
                  <a:srgbClr val="14243D"/>
                </a:solidFill>
                <a:latin typeface="Aptos"/>
              </a:defRPr>
            </a:pPr>
            <a:r>
              <a:t>Dequeue ALS • status tracking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526279"/>
            <a:ext cx="3886200" cy="960120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OIC Processing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AR_CASH_DEPOSIT • AR_MISC_RECEIPTS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AR_REVERSE_CASH • AR_CLEAR_DEPOSIT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04320" y="4526279"/>
            <a:ext cx="2468880" cy="960120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Receivables (AR)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Cash Receipts • Applications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0" y="5001767"/>
            <a:ext cx="45720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5001767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01400" y="5001767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2920" y="6035040"/>
            <a:ext cx="2834640" cy="960120"/>
          </a:xfrm>
          <a:prstGeom prst="roundRect">
            <a:avLst/>
          </a:prstGeom>
          <a:solidFill>
            <a:srgbClr val="DCEB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350" b="1">
                <a:solidFill>
                  <a:srgbClr val="14243D"/>
                </a:solidFill>
                <a:latin typeface="Aptos"/>
              </a:defRPr>
            </a:pPr>
            <a:r>
              <a:t>Platform payload</a:t>
            </a:r>
          </a:p>
          <a:p>
            <a:pPr algn="ctr">
              <a:defRPr sz="1300" b="0">
                <a:solidFill>
                  <a:srgbClr val="14243D"/>
                </a:solidFill>
                <a:latin typeface="Aptos"/>
              </a:defRPr>
            </a:pPr>
            <a:r>
              <a:t>4d. Escrow Deposits / Reversals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6035040"/>
            <a:ext cx="3017520" cy="960120"/>
          </a:xfrm>
          <a:prstGeom prst="roundRect">
            <a:avLst/>
          </a:prstGeom>
          <a:solidFill>
            <a:srgbClr val="DDF4EF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250" b="1">
                <a:solidFill>
                  <a:srgbClr val="14243D"/>
                </a:solidFill>
                <a:latin typeface="Aptos"/>
              </a:defRPr>
            </a:pPr>
            <a:r>
              <a:t>ATP staging</a:t>
            </a:r>
          </a:p>
          <a:p>
            <a:pPr algn="ctr">
              <a:defRPr sz="1200" b="0">
                <a:solidFill>
                  <a:srgbClr val="14243D"/>
                </a:solidFill>
                <a:latin typeface="Aptos"/>
              </a:defRPr>
            </a:pPr>
            <a:r>
              <a:t>Dequeue ALS • status tracking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6035040"/>
            <a:ext cx="3886200" cy="960120"/>
          </a:xfrm>
          <a:prstGeom prst="roundRect">
            <a:avLst/>
          </a:prstGeom>
          <a:solidFill>
            <a:srgbClr val="FBE5E3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OIC Processing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ESCROW_DEPOSIT • ESCROW_REVERSAL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704320" y="6035040"/>
            <a:ext cx="2468880" cy="960120"/>
          </a:xfrm>
          <a:prstGeom prst="roundRect">
            <a:avLst/>
          </a:prstGeom>
          <a:solidFill>
            <a:srgbClr val="EDE5FA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Fusion Accounting Hub</a:t>
            </a:r>
          </a:p>
          <a:p>
            <a:pPr algn="ctr">
              <a:defRPr sz="1100" b="0">
                <a:solidFill>
                  <a:srgbClr val="14243D"/>
                </a:solidFill>
                <a:latin typeface="Aptos"/>
              </a:defRPr>
            </a:pPr>
            <a:r>
              <a:t>GL Journals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37560" y="6510527"/>
            <a:ext cx="45720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12280" y="6510527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201400" y="6510527"/>
            <a:ext cx="502920" cy="0"/>
          </a:xfrm>
          <a:prstGeom prst="line">
            <a:avLst/>
          </a:prstGeom>
          <a:ln w="21590">
            <a:solidFill>
              <a:srgbClr val="5067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103120" y="7635240"/>
            <a:ext cx="10424160" cy="365760"/>
          </a:xfrm>
          <a:prstGeom prst="roundRect">
            <a:avLst/>
          </a:prstGeom>
          <a:solidFill>
            <a:srgbClr val="FFF0D7"/>
          </a:solidFill>
          <a:ln w="13970">
            <a:solidFill>
              <a:srgbClr val="B6C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584" rIns="82296" tIns="54864" bIns="36576"/>
          <a:lstStyle/>
          <a:p>
            <a:pPr algn="ctr">
              <a:defRPr sz="1150" b="1">
                <a:solidFill>
                  <a:srgbClr val="14243D"/>
                </a:solidFill>
                <a:latin typeface="Aptos"/>
              </a:defRPr>
            </a:pPr>
            <a:r>
              <a:t>Response integration reads pending ATP statuses and publishes responses to the Platform queue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