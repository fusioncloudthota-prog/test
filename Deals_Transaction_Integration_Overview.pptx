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Deals Transaction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End-to-end processing from platform to Oracle Fusion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0097A4"/>
                </a:solidFill>
                <a:latin typeface="Aptos"/>
              </a:defRPr>
            </a:pPr>
            <a:r>
              <a:rPr dirty="0"/>
              <a:t>Platform  →  OIC  →  </a:t>
            </a:r>
            <a:r>
              <a:rPr lang="en-US" dirty="0"/>
              <a:t>Enq</a:t>
            </a:r>
            <a:r>
              <a:rPr dirty="0"/>
              <a:t>ueue  → </a:t>
            </a:r>
            <a:r>
              <a:rPr lang="en-US" dirty="0"/>
              <a:t>Dequeue</a:t>
            </a:r>
            <a:r>
              <a:rPr dirty="0"/>
              <a:t> </a:t>
            </a:r>
            <a:r>
              <a:rPr lang="en-US" dirty="0"/>
              <a:t>→ </a:t>
            </a:r>
            <a:r>
              <a:rPr dirty="0"/>
              <a:t>ATP  → 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4C5C6E"/>
                </a:solidFill>
                <a:latin typeface="Aptos"/>
              </a:defRPr>
            </a:pPr>
            <a:r>
              <a:rPr dirty="0"/>
              <a:t>Payload validation • Queue-based processing • Transaction staging • Status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Business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Transaction types originating from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141732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Marketing payouts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Deal-related marketing disbursements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5120640" cy="141732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Deal payouts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Payments associated with deals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120640" cy="141732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Deal deposits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Deposits received for deals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520440"/>
            <a:ext cx="5120640" cy="141732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Deal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7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Revenue and other deal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Payload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Two primary categories of inbound payloads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846320" cy="237744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2200" b="1">
                <a:solidFill>
                  <a:srgbClr val="12233D"/>
                </a:solidFill>
                <a:latin typeface="Aptos"/>
              </a:defRPr>
            </a:pPr>
            <a:r>
              <a:t>TRANSACTIONS</a:t>
            </a:r>
            <a:br/>
            <a:r>
              <a:t>Deal-related financial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46320" cy="237744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2000" b="1">
                <a:solidFill>
                  <a:srgbClr val="12233D"/>
                </a:solidFill>
                <a:latin typeface="Aptos"/>
              </a:defRPr>
            </a:pPr>
            <a:r>
              <a:t>APPLICATIONS</a:t>
            </a:r>
            <a:br/>
            <a:r>
              <a:t>Receipt, credit memo and debit memo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4C5C6E"/>
                </a:solidFill>
                <a:latin typeface="Aptos"/>
              </a:defRPr>
            </a:pPr>
            <a:r>
              <a:t>Each payload is routed to its corresponding integration endpoint.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End-to-End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Conceptual data flow — all components are 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Source</a:t>
            </a:r>
            <a:br/>
            <a:r>
              <a:t>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OIC API</a:t>
            </a:r>
            <a:br/>
            <a:r>
              <a:t>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Validation</a:t>
            </a:r>
            <a:br/>
            <a:r>
              <a:t>&amp;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OIC Dequeue</a:t>
            </a:r>
            <a:br/>
            <a:r>
              <a:t>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ATP</a:t>
            </a:r>
            <a:br/>
            <a:r>
              <a:t>Staging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103120"/>
            <a:ext cx="1600200" cy="12801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500" b="1">
                <a:solidFill>
                  <a:srgbClr val="12233D"/>
                </a:solidFill>
                <a:latin typeface="Aptos"/>
              </a:defRPr>
            </a:pPr>
            <a:r>
              <a:t>Oracle Fusion</a:t>
            </a:r>
            <a:br/>
            <a: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 b="1">
                <a:solidFill>
                  <a:srgbClr val="0097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 b="1">
                <a:solidFill>
                  <a:srgbClr val="0097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 b="1">
                <a:solidFill>
                  <a:srgbClr val="0097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 b="1">
                <a:solidFill>
                  <a:srgbClr val="0097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500" b="1">
                <a:solidFill>
                  <a:srgbClr val="0097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4C5C6E"/>
                </a:solidFill>
                <a:latin typeface="Aptos"/>
              </a:defRPr>
            </a:pPr>
            <a:r>
              <a:t>Processing results and transaction status are communicated back to the source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Processing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From inbound request to Fusion Cloud posting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53312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1  Receive the platform payload at the exposed integration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2  Validate the payload against the transaction/application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2928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3  Queue accepted requests for asynchronous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02736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4  Dequeue messages and insert transaction data into ATP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2544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5  Retrieve valid staged data and process it in Fusion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02352"/>
            <a:ext cx="10607040" cy="585216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6  Communicate processing responses back to the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Deal Revenue &amp; Deposit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Illustrative business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114800" cy="10515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Deal revenue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91640"/>
            <a:ext cx="4114800" cy="10515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Deal deposit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4114800" cy="10515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Processed independently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154680"/>
            <a:ext cx="4114800" cy="10515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Processed independently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63440"/>
            <a:ext cx="5394960" cy="822960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700" b="1">
                <a:solidFill>
                  <a:srgbClr val="12233D"/>
                </a:solidFill>
                <a:latin typeface="Aptos"/>
              </a:defRPr>
            </a:pPr>
            <a:r>
              <a:t>Platform applies deposit to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Confirm ordering and application dependencies against the integration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9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12233D"/>
                </a:solidFill>
                <a:latin typeface="Aptos"/>
              </a:defRPr>
            </a:pPr>
            <a:r>
              <a:t>Key Controls &amp; Design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78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 b="0">
                <a:solidFill>
                  <a:srgbClr val="4C5C6E"/>
                </a:solidFill>
                <a:latin typeface="Aptos"/>
              </a:defRPr>
            </a:pPr>
            <a:r>
              <a:t>Areas to confirm during technical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4C5C6E"/>
                </a:solidFill>
                <a:latin typeface="Aptos"/>
              </a:defRPr>
            </a:pPr>
            <a:r>
              <a:t>DEALS TRANSACTION INTEGRATION  |  Architecture &amp; Process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Schema validation and invalid-payload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Queue reliability, retries and duplicate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ATP staging status and error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7180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Transaction ordering and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Fusion Cloud processing and callback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120640" cy="1024128"/>
          </a:xfrm>
          <a:prstGeom prst="roundRect">
            <a:avLst/>
          </a:prstGeom>
          <a:solidFill>
            <a:srgbClr val="E9F6F8"/>
          </a:solidFill>
          <a:ln>
            <a:solidFill>
              <a:srgbClr val="009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46304" rtlCol="0" anchor="ctr"/>
          <a:lstStyle/>
          <a:p>
            <a:pPr algn="ctr">
              <a:defRPr sz="1600" b="1">
                <a:solidFill>
                  <a:srgbClr val="12233D"/>
                </a:solidFill>
                <a:latin typeface="Aptos"/>
              </a:defRPr>
            </a:pPr>
            <a:r>
              <a:t>Monitoring, reconciliation and audit trail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349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Thota</cp:lastModifiedBy>
  <cp:revision>2</cp:revision>
  <dcterms:created xsi:type="dcterms:W3CDTF">2013-01-27T09:14:16Z</dcterms:created>
  <dcterms:modified xsi:type="dcterms:W3CDTF">2026-10-16T19:02:09Z</dcterms:modified>
  <cp:category/>
</cp:coreProperties>
</file>