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C4874"/>
                </a:solidFill>
              </a:defRPr>
            </a:pPr>
            <a:r>
              <a:t>Oracle Fusion SaaS ↔ OCI PaaS (OIC) — OAuth 2.0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1064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All architecture elements on this slide are native PowerPoint shapes and are individually editable.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4572000" cy="5074920"/>
          </a:xfrm>
          <a:prstGeom prst="roundRect">
            <a:avLst/>
          </a:prstGeom>
          <a:solidFill>
            <a:srgbClr val="FFF4F4"/>
          </a:solidFill>
          <a:ln w="25400">
            <a:solidFill>
              <a:srgbClr val="CD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188720"/>
            <a:ext cx="43525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CD2323"/>
                </a:solidFill>
              </a:defRPr>
            </a:pPr>
            <a:r>
              <a:t>ORACLE FUSION CLOUD — SaaS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5472" y="1143000"/>
            <a:ext cx="4572000" cy="5074920"/>
          </a:xfrm>
          <a:prstGeom prst="roundRect">
            <a:avLst/>
          </a:prstGeom>
          <a:solidFill>
            <a:srgbClr val="EFF8FF"/>
          </a:solidFill>
          <a:ln w="254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43525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A6FB5"/>
                </a:solidFill>
              </a:defRPr>
            </a:pPr>
            <a:r>
              <a:t>ORACLE CLOUD INFRASTRUCTURE — PaaS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388620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36667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C4874"/>
                </a:solidFill>
              </a:defRPr>
            </a:pPr>
            <a:r>
              <a:t>OAuth 2.0 Confidential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33375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</a:defRPr>
            </a:pPr>
            <a:r>
              <a:t>• Client ID</a:t>
            </a:r>
            <a:br/>
            <a:r>
              <a:t>• Client Secret</a:t>
            </a:r>
            <a:br/>
            <a:r>
              <a:t>• Scopes / permissions</a:t>
            </a:r>
            <a:br/>
            <a:r>
              <a:t>• OAuth authorization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096512"/>
            <a:ext cx="38862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142232"/>
            <a:ext cx="36667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C4874"/>
                </a:solidFill>
              </a:defRPr>
            </a:pPr>
            <a:r>
              <a:t>Fusion REST / SOAP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3337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</a:defRPr>
            </a:pPr>
            <a:r>
              <a:t>ERP • HCM • Financials</a:t>
            </a:r>
            <a:br/>
            <a:r>
              <a:t>REST endpoints / SOAP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783080"/>
            <a:ext cx="224028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7" y="1828800"/>
            <a:ext cx="20208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C4874"/>
                </a:solidFill>
              </a:defRPr>
            </a:pPr>
            <a:r>
              <a:t>OIC Gen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2331720"/>
            <a:ext cx="17373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Integrations</a:t>
            </a:r>
            <a:br/>
            <a:r>
              <a:t>• Connections</a:t>
            </a:r>
            <a:br/>
            <a:r>
              <a:t>• Schedules</a:t>
            </a:r>
            <a:br/>
            <a:r>
              <a:t>• API calls</a:t>
            </a:r>
            <a:br/>
            <a:r>
              <a:t>• Retry /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85248" y="1783080"/>
            <a:ext cx="1481328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94976" y="1828800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F46A0"/>
                </a:solidFill>
              </a:defRPr>
            </a:pPr>
            <a:r>
              <a:t>OCI 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8128" y="2359152"/>
            <a:ext cx="111556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</a:defRPr>
            </a:pPr>
            <a:r>
              <a:t>Client ID</a:t>
            </a:r>
            <a:br/>
            <a:r>
              <a:t>Client Secret</a:t>
            </a:r>
            <a:br/>
            <a:r>
              <a:t>Keys / secrets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315968"/>
            <a:ext cx="3968496" cy="12070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7" y="4361688"/>
            <a:ext cx="37490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68253"/>
                </a:solidFill>
              </a:defRPr>
            </a:pPr>
            <a:r>
              <a:t>Optional OCI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736592"/>
            <a:ext cx="35112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ATP  •  Functions  •  API Gateway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646920" y="3246120"/>
            <a:ext cx="365760" cy="0"/>
          </a:xfrm>
          <a:prstGeom prst="line">
            <a:avLst/>
          </a:prstGeom>
          <a:ln w="31750">
            <a:solidFill>
              <a:srgbClr val="6F4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19488" y="34290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F46A0"/>
                </a:solidFill>
              </a:defRPr>
            </a:pPr>
            <a:r>
              <a:t>Retrieve secrets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010912" y="2395728"/>
            <a:ext cx="2468880" cy="0"/>
          </a:xfrm>
          <a:prstGeom prst="line">
            <a:avLst/>
          </a:prstGeom>
          <a:ln w="38100">
            <a:solidFill>
              <a:srgbClr val="C58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83480" y="1481328"/>
            <a:ext cx="226771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C58714"/>
                </a:solidFill>
              </a:defRPr>
            </a:pPr>
            <a:r>
              <a:t>1  Request Access Token</a:t>
            </a:r>
            <a:br/>
            <a:r>
              <a:t>HTTPS / OAuth 2.0</a:t>
            </a:r>
            <a:br/>
            <a:r>
              <a:t>Client Credentials Grant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10912" y="3182112"/>
            <a:ext cx="2468880" cy="0"/>
          </a:xfrm>
          <a:prstGeom prst="line">
            <a:avLst/>
          </a:prstGeom>
          <a:ln w="38100">
            <a:solidFill>
              <a:srgbClr val="2682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10912" y="3346704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68253"/>
                </a:solidFill>
              </a:defRPr>
            </a:pPr>
            <a:r>
              <a:t>2  Return Access Token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010912" y="4736592"/>
            <a:ext cx="2468880" cy="0"/>
          </a:xfrm>
          <a:prstGeom prst="line">
            <a:avLst/>
          </a:prstGeom>
          <a:ln w="38100">
            <a:solidFill>
              <a:srgbClr val="1A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0" y="4956048"/>
            <a:ext cx="2148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A6FB5"/>
                </a:solidFill>
              </a:defRPr>
            </a:pPr>
            <a:r>
              <a:t>3  Call Fusion APIs</a:t>
            </a:r>
            <a:br/>
            <a:r>
              <a:t>HTTPS + Bearer 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806440"/>
            <a:ext cx="11064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C4874"/>
                </a:solidFill>
              </a:defRPr>
            </a:pPr>
            <a:r>
              <a:t>Route: OIC → HTTPS/TLS → OAuth token endpoint → access token → Fusion REST/SOAP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2971800"/>
            <a:ext cx="3429000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5377"/>
                </a:solidFill>
              </a:rPr>
              <a:t>Fusion Service User / Integration Account</a:t>
            </a:r>
          </a:p>
          <a:p>
            <a:pPr algn="ctr"/>
            <a:r>
              <a:rPr sz="1050">
                <a:solidFill>
                  <a:srgbClr val="373737"/>
                </a:solidFill>
              </a:rPr>
              <a:t>Non-personal account • Least-privilege roles • API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61188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D4619"/>
                </a:solidFill>
              </a:rPr>
              <a:t>Managed centrally by IT /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C4874"/>
                </a:solidFill>
              </a:defRPr>
            </a:pPr>
            <a:r>
              <a:t>Where Each OAuth Component Resides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1064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A simple management view of ownership and runtime responsibility.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5321808" cy="4434840"/>
          </a:xfrm>
          <a:prstGeom prst="roundRect">
            <a:avLst/>
          </a:prstGeom>
          <a:solidFill>
            <a:srgbClr val="FFF4F4"/>
          </a:solidFill>
          <a:ln w="25400">
            <a:solidFill>
              <a:srgbClr val="CD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25880"/>
            <a:ext cx="5102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CD2323"/>
                </a:solidFill>
              </a:defRPr>
            </a:pPr>
            <a:r>
              <a:t>SaaS — Fusion / Identity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80160"/>
            <a:ext cx="5321808" cy="4434840"/>
          </a:xfrm>
          <a:prstGeom prst="roundRect">
            <a:avLst/>
          </a:prstGeom>
          <a:solidFill>
            <a:srgbClr val="EFF8FF"/>
          </a:solidFill>
          <a:ln w="254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325880"/>
            <a:ext cx="5102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A6FB5"/>
                </a:solidFill>
              </a:defRPr>
            </a:pPr>
            <a:r>
              <a:t>PaaS — OCI / OIC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Confidential Application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Client ID / Client Secret issuance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63824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Scopes and authorization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85616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Fusion REST / SOAP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07408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OAuth token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20240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OIC Gen 3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42032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OIC connections and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163824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OCI Vault for secret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85616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ATP / Functions / API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407408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Deployment automation / CI-CD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C4874"/>
                </a:solidFill>
              </a:defRPr>
            </a:pPr>
            <a:r>
              <a:t>Key distinction: the OAuth client registration and the system that consumes the credentials are separate responsibilities.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5488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23232"/>
                </a:solidFill>
              </a:rPr>
              <a:t>✓  Dedicated Fusion service user / integration account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C4874"/>
                </a:solidFill>
              </a:defRPr>
            </a:pPr>
            <a:r>
              <a:t>OAuth 2.0 Client Credentials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1064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Machine-to-machine authentication for OIC calling Fusion APIs.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594360" cy="594360"/>
          </a:xfrm>
          <a:prstGeom prst="ellipse">
            <a:avLst/>
          </a:prstGeom>
          <a:solidFill>
            <a:srgbClr val="6F46A0"/>
          </a:solidFill>
          <a:ln>
            <a:solidFill>
              <a:srgbClr val="6F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98448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C4874"/>
                </a:solidFill>
              </a:defRPr>
            </a:pPr>
            <a:r>
              <a:t>OIC gets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298448"/>
            <a:ext cx="7360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OIC retrieves the approved Client ID / Client Secret from the secure secret store.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04872"/>
            <a:ext cx="594360" cy="594360"/>
          </a:xfrm>
          <a:prstGeom prst="ellipse">
            <a:avLst/>
          </a:prstGeom>
          <a:solidFill>
            <a:srgbClr val="C58714"/>
          </a:solidFill>
          <a:ln>
            <a:solidFill>
              <a:srgbClr val="C58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77440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C4874"/>
                </a:solidFill>
              </a:defRPr>
            </a:pPr>
            <a:r>
              <a:t>OIC requests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377440"/>
            <a:ext cx="7360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OIC calls the configured token endpoint over HTTPS using client credentials and scope.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483863"/>
            <a:ext cx="594360" cy="594360"/>
          </a:xfrm>
          <a:prstGeom prst="ellipse">
            <a:avLst/>
          </a:prstGeom>
          <a:solidFill>
            <a:srgbClr val="268253"/>
          </a:solidFill>
          <a:ln>
            <a:solidFill>
              <a:srgbClr val="26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83863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45643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C4874"/>
                </a:solidFill>
              </a:defRPr>
            </a:pPr>
            <a:r>
              <a:t>Token is issued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456432"/>
            <a:ext cx="7360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The authorization service validates the client and returns a short-lived access token.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62855"/>
            <a:ext cx="594360" cy="594360"/>
          </a:xfrm>
          <a:prstGeom prst="ellipse">
            <a:avLst/>
          </a:prstGeom>
          <a:solidFill>
            <a:srgbClr val="1A6FB5"/>
          </a:solidFill>
          <a:ln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5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535423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C4874"/>
                </a:solidFill>
              </a:defRPr>
            </a:pPr>
            <a:r>
              <a:t>OIC calls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535423"/>
            <a:ext cx="7360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OIC sends the access token with the Fusion REST/SOAP API request over HTTPS.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06440"/>
            <a:ext cx="10652760" cy="502920"/>
          </a:xfrm>
          <a:prstGeom prst="roundRect">
            <a:avLst/>
          </a:prstGeom>
          <a:solidFill>
            <a:srgbClr val="F7F9FB"/>
          </a:solidFill>
          <a:ln w="25400">
            <a:solidFill>
              <a:srgbClr val="0C4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43016"/>
            <a:ext cx="10287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C4874"/>
                </a:solidFill>
              </a:defRPr>
            </a:pPr>
            <a:r>
              <a:t>Security: least-privilege scopes • secret rotation • restricted IAM access • HTTPS/TLS • no secrets in source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C4874"/>
                </a:solidFill>
              </a:defRPr>
            </a:pPr>
            <a:r>
              <a:t>Recommended Management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1064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Clear separation of identity, secrets, integration runtime, and API access.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331720" cy="3977639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D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54480"/>
            <a:ext cx="21122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CD2323"/>
                </a:solidFill>
              </a:defRPr>
            </a:pPr>
            <a:r>
              <a:t>1. Identity / OAuth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Register confidential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Define scopes / 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Issue credentials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508760"/>
            <a:ext cx="2331720" cy="3977639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F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554480"/>
            <a:ext cx="21122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F46A0"/>
                </a:solidFill>
              </a:defRPr>
            </a:pPr>
            <a:r>
              <a:t>2. 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402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Store approved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6324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Restrict access with IAM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88620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Rotate credentials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08760"/>
            <a:ext cx="2331720" cy="3977639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54480"/>
            <a:ext cx="21122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A6FB5"/>
                </a:solidFill>
              </a:defRPr>
            </a:pPr>
            <a:r>
              <a:t>3. Integration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OIC Gen 3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Orchestration / retry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8620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Monitoring / logging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508760"/>
            <a:ext cx="2331720" cy="3977639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6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1554480"/>
            <a:ext cx="21122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68253"/>
                </a:solidFill>
              </a:defRPr>
            </a:pPr>
            <a:r>
              <a:t>4. SaaS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2402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Fusion REST / SOAP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06324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Bearer-token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8620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Business services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3493008"/>
            <a:ext cx="457200" cy="0"/>
          </a:xfrm>
          <a:prstGeom prst="line">
            <a:avLst/>
          </a:prstGeom>
          <a:ln w="31750">
            <a:solidFill>
              <a:srgbClr val="0C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52160" y="3493008"/>
            <a:ext cx="457200" cy="0"/>
          </a:xfrm>
          <a:prstGeom prst="line">
            <a:avLst/>
          </a:prstGeom>
          <a:ln w="31750">
            <a:solidFill>
              <a:srgbClr val="0C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86800" y="3493008"/>
            <a:ext cx="457200" cy="0"/>
          </a:xfrm>
          <a:prstGeom prst="line">
            <a:avLst/>
          </a:prstGeom>
          <a:ln w="31750">
            <a:solidFill>
              <a:srgbClr val="0C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C4874"/>
                </a:solidFill>
              </a:defRPr>
            </a:pPr>
            <a:r>
              <a:t>Outcome: credentials are centrally controlled, OIC remains the integration runtime, and Fusion APIs are accessed through authenticated HTTPS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5377"/>
                </a:solidFill>
              </a:rPr>
              <a:t>Service User — Why IT Should Centrally Manage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5A5A"/>
                </a:solidFill>
              </a:rPr>
              <a:t>Recommended for OIC-to-Fusion integrations, scheduled jobs, and machine-to-machine API access.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65760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65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65377"/>
                </a:solidFill>
              </a:rPr>
              <a:t>Service User / Integration Account</a:t>
            </a:r>
          </a:p>
          <a:p>
            <a:pPr>
              <a:spcBef>
                <a:spcPts val="1000"/>
              </a:spcBef>
              <a:defRPr sz="1400">
                <a:solidFill>
                  <a:srgbClr val="373737"/>
                </a:solidFill>
              </a:defRPr>
            </a:pPr>
            <a:r>
              <a:t>• Dedicated non-personal Fusion account</a:t>
            </a:r>
          </a:p>
          <a:p>
            <a:pPr>
              <a:spcBef>
                <a:spcPts val="1000"/>
              </a:spcBef>
              <a:defRPr sz="1400">
                <a:solidFill>
                  <a:srgbClr val="373737"/>
                </a:solidFill>
              </a:defRPr>
            </a:pPr>
            <a:r>
              <a:t>• Used by OIC connections and scheduled integrations</a:t>
            </a:r>
          </a:p>
          <a:p>
            <a:pPr>
              <a:spcBef>
                <a:spcPts val="1000"/>
              </a:spcBef>
              <a:defRPr sz="1400">
                <a:solidFill>
                  <a:srgbClr val="373737"/>
                </a:solidFill>
              </a:defRPr>
            </a:pPr>
            <a:r>
              <a:t>• Assigned only required ERP / HCM / API roles</a:t>
            </a:r>
          </a:p>
          <a:p>
            <a:pPr>
              <a:spcBef>
                <a:spcPts val="1000"/>
              </a:spcBef>
              <a:defRPr sz="1400">
                <a:solidFill>
                  <a:srgbClr val="373737"/>
                </a:solidFill>
              </a:defRPr>
            </a:pPr>
            <a:r>
              <a:t>• Credentials protected in OIC / OCI Vault where applicable</a:t>
            </a:r>
          </a:p>
          <a:p>
            <a:pPr>
              <a:spcBef>
                <a:spcPts val="1000"/>
              </a:spcBef>
              <a:defRPr sz="1400">
                <a:solidFill>
                  <a:srgbClr val="373737"/>
                </a:solidFill>
              </a:defRPr>
            </a:pPr>
            <a:r>
              <a:t>• Ownership remains with IT rather than an individual employee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417320"/>
            <a:ext cx="7086600" cy="4389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B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B895B"/>
                </a:solidFill>
              </a:rPr>
              <a:t>Advantages for IT Management</a:t>
            </a:r>
          </a:p>
          <a:p>
            <a:pPr>
              <a:spcBef>
                <a:spcPts val="600"/>
              </a:spcBef>
            </a:pPr>
            <a:r>
              <a:rPr b="1" sz="1350">
                <a:solidFill>
                  <a:srgbClr val="232323"/>
                </a:solidFill>
              </a:rPr>
              <a:t>Continuity: </a:t>
            </a:r>
            <a:r>
              <a:rPr sz="1350">
                <a:solidFill>
                  <a:srgbClr val="373737"/>
                </a:solidFill>
              </a:rPr>
              <a:t>Integrations do not depend on an employee’s personal account, password, or employment status.</a:t>
            </a:r>
          </a:p>
          <a:p>
            <a:pPr>
              <a:spcBef>
                <a:spcPts val="600"/>
              </a:spcBef>
            </a:pPr>
            <a:r>
              <a:rPr b="1" sz="1350">
                <a:solidFill>
                  <a:srgbClr val="232323"/>
                </a:solidFill>
              </a:rPr>
              <a:t>Security: </a:t>
            </a:r>
            <a:r>
              <a:rPr sz="1350">
                <a:solidFill>
                  <a:srgbClr val="373737"/>
                </a:solidFill>
              </a:rPr>
              <a:t>Centralized least-privilege access, credential rotation, and controlled administrative ownership.</a:t>
            </a:r>
          </a:p>
          <a:p>
            <a:pPr>
              <a:spcBef>
                <a:spcPts val="600"/>
              </a:spcBef>
            </a:pPr>
            <a:r>
              <a:rPr b="1" sz="1350">
                <a:solidFill>
                  <a:srgbClr val="232323"/>
                </a:solidFill>
              </a:rPr>
              <a:t>Auditability: </a:t>
            </a:r>
            <a:r>
              <a:rPr sz="1350">
                <a:solidFill>
                  <a:srgbClr val="373737"/>
                </a:solidFill>
              </a:rPr>
              <a:t>API and integration activity is easier to identify, monitor, and review during audits.</a:t>
            </a:r>
          </a:p>
          <a:p>
            <a:pPr>
              <a:spcBef>
                <a:spcPts val="600"/>
              </a:spcBef>
            </a:pPr>
            <a:r>
              <a:rPr b="1" sz="1350">
                <a:solidFill>
                  <a:srgbClr val="232323"/>
                </a:solidFill>
              </a:rPr>
              <a:t>Operational stability: </a:t>
            </a:r>
            <a:r>
              <a:rPr sz="1350">
                <a:solidFill>
                  <a:srgbClr val="373737"/>
                </a:solidFill>
              </a:rPr>
              <a:t>Reduces failures caused by personal password changes, lockouts, MFA changes, or user deactivation.</a:t>
            </a:r>
          </a:p>
          <a:p>
            <a:pPr>
              <a:spcBef>
                <a:spcPts val="600"/>
              </a:spcBef>
            </a:pPr>
            <a:r>
              <a:rPr b="1" sz="1350">
                <a:solidFill>
                  <a:srgbClr val="232323"/>
                </a:solidFill>
              </a:rPr>
              <a:t>Governance: </a:t>
            </a:r>
            <a:r>
              <a:rPr sz="1350">
                <a:solidFill>
                  <a:srgbClr val="373737"/>
                </a:solidFill>
              </a:rPr>
              <a:t>One documented owner, approval process, naming standard, and lifecycle for integration identities.</a:t>
            </a:r>
          </a:p>
          <a:p>
            <a:pPr>
              <a:spcBef>
                <a:spcPts val="600"/>
              </a:spcBef>
            </a:pPr>
            <a:r>
              <a:rPr b="1" sz="1350">
                <a:solidFill>
                  <a:srgbClr val="232323"/>
                </a:solidFill>
              </a:rPr>
              <a:t>Separation of duties: </a:t>
            </a:r>
            <a:r>
              <a:rPr sz="1350">
                <a:solidFill>
                  <a:srgbClr val="373737"/>
                </a:solidFill>
              </a:rPr>
              <a:t>Developers can build integrations without owning or sharing production credentials.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989320"/>
            <a:ext cx="10515600" cy="502920"/>
          </a:xfrm>
          <a:prstGeom prst="roundRect">
            <a:avLst/>
          </a:prstGeom>
          <a:solidFill>
            <a:srgbClr val="F5F8FA"/>
          </a:solidFill>
          <a:ln>
            <a:solidFill>
              <a:srgbClr val="165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65377"/>
                </a:solidFill>
              </a:rPr>
              <a:t>Recommendation: IT/Security owns the service user; application teams request access through an approved process and never embed credentials in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