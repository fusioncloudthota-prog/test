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C4874"/>
                </a:solidFill>
              </a:defRPr>
            </a:pPr>
            <a:r>
              <a:t>Oracle Fusion SaaS ↔ OCI PaaS (OIC) — OAuth 2.0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1064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All architecture elements on this slide are native PowerPoint shapes and are individually editable.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4572000" cy="5074920"/>
          </a:xfrm>
          <a:prstGeom prst="roundRect">
            <a:avLst/>
          </a:prstGeom>
          <a:solidFill>
            <a:srgbClr val="FFF4F4"/>
          </a:solidFill>
          <a:ln w="25400">
            <a:solidFill>
              <a:srgbClr val="CD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188720"/>
            <a:ext cx="43525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CD2323"/>
                </a:solidFill>
              </a:defRPr>
            </a:pPr>
            <a:r>
              <a:t>ORACLE FUSION CLOUD — SaaS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5472" y="1143000"/>
            <a:ext cx="4572000" cy="5074920"/>
          </a:xfrm>
          <a:prstGeom prst="roundRect">
            <a:avLst/>
          </a:prstGeom>
          <a:solidFill>
            <a:srgbClr val="EFF8FF"/>
          </a:solidFill>
          <a:ln w="2540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188720"/>
            <a:ext cx="43525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A6FB5"/>
                </a:solidFill>
              </a:defRPr>
            </a:pPr>
            <a:r>
              <a:t>ORACLE CLOUD INFRASTRUCTURE — PaaS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83080"/>
            <a:ext cx="388620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D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28800"/>
            <a:ext cx="36667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0C4874"/>
                </a:solidFill>
              </a:defRPr>
            </a:pPr>
            <a:r>
              <a:t>OAuth 2.0 Confidential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40280"/>
            <a:ext cx="33375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</a:defRPr>
            </a:pPr>
            <a:r>
              <a:t>• Client ID</a:t>
            </a:r>
            <a:br/>
            <a:r>
              <a:t>• Client Secret</a:t>
            </a:r>
            <a:br/>
            <a:r>
              <a:t>• Scopes / permissions</a:t>
            </a:r>
            <a:br/>
            <a:r>
              <a:t>• OAuth authorization configuration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096512"/>
            <a:ext cx="388620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D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142232"/>
            <a:ext cx="36667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0C4874"/>
                </a:solidFill>
              </a:defRPr>
            </a:pPr>
            <a:r>
              <a:t>Fusion REST / SOAP APIs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3337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</a:defRPr>
            </a:pPr>
            <a:r>
              <a:t>ERP • HCM • Financials</a:t>
            </a:r>
            <a:br/>
            <a:r>
              <a:t>REST endpoints / SOAP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783080"/>
            <a:ext cx="224028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7" y="1828800"/>
            <a:ext cx="202082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0C4874"/>
                </a:solidFill>
              </a:defRPr>
            </a:pPr>
            <a:r>
              <a:t>OIC Gen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2331720"/>
            <a:ext cx="17373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Integrations</a:t>
            </a:r>
            <a:br/>
            <a:r>
              <a:t>• Connections</a:t>
            </a:r>
            <a:br/>
            <a:r>
              <a:t>• Schedules</a:t>
            </a:r>
            <a:br/>
            <a:r>
              <a:t>• API calls</a:t>
            </a:r>
            <a:br/>
            <a:r>
              <a:t>• Retry / errors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85248" y="1783080"/>
            <a:ext cx="1481328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F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94976" y="1828800"/>
            <a:ext cx="12618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6F46A0"/>
                </a:solidFill>
              </a:defRPr>
            </a:pPr>
            <a:r>
              <a:t>OCI Vault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8128" y="2359152"/>
            <a:ext cx="1115568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232D37"/>
                </a:solidFill>
              </a:defRPr>
            </a:pPr>
            <a:r>
              <a:t>Client ID</a:t>
            </a:r>
            <a:br/>
            <a:r>
              <a:t>Client Secret</a:t>
            </a:r>
            <a:br/>
            <a:r>
              <a:t>Keys / secrets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4315968"/>
            <a:ext cx="3968496" cy="12070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68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7807" y="4361688"/>
            <a:ext cx="37490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68253"/>
                </a:solidFill>
              </a:defRPr>
            </a:pPr>
            <a:r>
              <a:t>Optional OCI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736592"/>
            <a:ext cx="351129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32D37"/>
                </a:solidFill>
              </a:defRPr>
            </a:pPr>
            <a:r>
              <a:t>ATP  •  Functions  •  API Gateway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9646920" y="3246120"/>
            <a:ext cx="365760" cy="0"/>
          </a:xfrm>
          <a:prstGeom prst="line">
            <a:avLst/>
          </a:prstGeom>
          <a:ln w="31750">
            <a:solidFill>
              <a:srgbClr val="6F4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19488" y="342900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6F46A0"/>
                </a:solidFill>
              </a:defRPr>
            </a:pPr>
            <a:r>
              <a:t>Retrieve secrets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010912" y="2395728"/>
            <a:ext cx="2468880" cy="0"/>
          </a:xfrm>
          <a:prstGeom prst="line">
            <a:avLst/>
          </a:prstGeom>
          <a:ln w="38100">
            <a:solidFill>
              <a:srgbClr val="C587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983480" y="1481328"/>
            <a:ext cx="2267712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C58714"/>
                </a:solidFill>
              </a:defRPr>
            </a:pPr>
            <a:r>
              <a:t>1  Request Access Token</a:t>
            </a:r>
            <a:br/>
            <a:r>
              <a:t>HTTPS / OAuth 2.0</a:t>
            </a:r>
            <a:br/>
            <a:r>
              <a:t>Client Credentials Grant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10912" y="3182112"/>
            <a:ext cx="2468880" cy="0"/>
          </a:xfrm>
          <a:prstGeom prst="line">
            <a:avLst/>
          </a:prstGeom>
          <a:ln w="38100">
            <a:solidFill>
              <a:srgbClr val="2682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10912" y="3346704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68253"/>
                </a:solidFill>
              </a:defRPr>
            </a:pPr>
            <a:r>
              <a:t>2  Return Access Token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5010912" y="4736592"/>
            <a:ext cx="2468880" cy="0"/>
          </a:xfrm>
          <a:prstGeom prst="line">
            <a:avLst/>
          </a:prstGeom>
          <a:ln w="38100">
            <a:solidFill>
              <a:srgbClr val="1A6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29200" y="4956048"/>
            <a:ext cx="2148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A6FB5"/>
                </a:solidFill>
              </a:defRPr>
            </a:pPr>
            <a:r>
              <a:t>3  Call Fusion APIs</a:t>
            </a:r>
            <a:br/>
            <a:r>
              <a:t>HTTPS + Bearer Token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806440"/>
            <a:ext cx="11064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C4874"/>
                </a:solidFill>
              </a:defRPr>
            </a:pPr>
            <a:r>
              <a:t>Route: OIC → HTTPS/TLS → OAuth token endpoint → access token → Fusion REST/SOAP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C4874"/>
                </a:solidFill>
              </a:defRPr>
            </a:pPr>
            <a:r>
              <a:t>Where Each OAuth Component Resides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1064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A simple management view of ownership and runtime responsibility.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5321808" cy="4434840"/>
          </a:xfrm>
          <a:prstGeom prst="roundRect">
            <a:avLst/>
          </a:prstGeom>
          <a:solidFill>
            <a:srgbClr val="FFF4F4"/>
          </a:solidFill>
          <a:ln w="25400">
            <a:solidFill>
              <a:srgbClr val="CD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325880"/>
            <a:ext cx="51023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CD2323"/>
                </a:solidFill>
              </a:defRPr>
            </a:pPr>
            <a:r>
              <a:t>SaaS — Fusion / Identity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80160"/>
            <a:ext cx="5321808" cy="4434840"/>
          </a:xfrm>
          <a:prstGeom prst="roundRect">
            <a:avLst/>
          </a:prstGeom>
          <a:solidFill>
            <a:srgbClr val="EFF8FF"/>
          </a:solidFill>
          <a:ln w="2540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3368" y="1325880"/>
            <a:ext cx="51023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A6FB5"/>
                </a:solidFill>
              </a:defRPr>
            </a:pPr>
            <a:r>
              <a:t>PaaS — OCI / OIC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</a:defRPr>
            </a:pPr>
            <a:r>
              <a:t>✓  Confidential Application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42032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</a:defRPr>
            </a:pPr>
            <a:r>
              <a:t>✓  Client ID / Client Secret issuance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63824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</a:defRPr>
            </a:pPr>
            <a:r>
              <a:t>✓  Scopes and authorization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85616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</a:defRPr>
            </a:pPr>
            <a:r>
              <a:t>✓  Fusion REST / SOAP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07408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</a:defRPr>
            </a:pPr>
            <a:r>
              <a:t>✓  OAuth token 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20240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</a:defRPr>
            </a:pPr>
            <a:r>
              <a:t>✓  OIC Gen 3 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542032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</a:defRPr>
            </a:pPr>
            <a:r>
              <a:t>✓  OIC connections and integrations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163824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</a:defRPr>
            </a:pPr>
            <a:r>
              <a:t>✓  OCI Vault for secret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785616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</a:defRPr>
            </a:pPr>
            <a:r>
              <a:t>✓  ATP / Functions / API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407408"/>
            <a:ext cx="4526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</a:defRPr>
            </a:pPr>
            <a:r>
              <a:t>✓  Deployment automation / CI-CD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C4874"/>
                </a:solidFill>
              </a:defRPr>
            </a:pPr>
            <a:r>
              <a:t>Key distinction: the OAuth client registration and the system that consumes the credentials are separate responsibilities.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C4874"/>
                </a:solidFill>
              </a:defRPr>
            </a:pPr>
            <a:r>
              <a:t>OAuth 2.0 Client Credentials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1064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Machine-to-machine authentication for OIC calling Fusion APIs.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25880"/>
            <a:ext cx="594360" cy="594360"/>
          </a:xfrm>
          <a:prstGeom prst="ellipse">
            <a:avLst/>
          </a:prstGeom>
          <a:solidFill>
            <a:srgbClr val="6F46A0"/>
          </a:solidFill>
          <a:ln>
            <a:solidFill>
              <a:srgbClr val="6F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298448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C4874"/>
                </a:solidFill>
              </a:defRPr>
            </a:pPr>
            <a:r>
              <a:t>OIC gets credentials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298448"/>
            <a:ext cx="7360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OIC retrieves the approved Client ID / Client Secret from the secure secret store.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404872"/>
            <a:ext cx="594360" cy="594360"/>
          </a:xfrm>
          <a:prstGeom prst="ellipse">
            <a:avLst/>
          </a:prstGeom>
          <a:solidFill>
            <a:srgbClr val="C58714"/>
          </a:solidFill>
          <a:ln>
            <a:solidFill>
              <a:srgbClr val="C58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04872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377440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C4874"/>
                </a:solidFill>
              </a:defRPr>
            </a:pPr>
            <a:r>
              <a:t>OIC requests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377440"/>
            <a:ext cx="7360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OIC calls the configured token endpoint over HTTPS using client credentials and scope.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483863"/>
            <a:ext cx="594360" cy="594360"/>
          </a:xfrm>
          <a:prstGeom prst="ellipse">
            <a:avLst/>
          </a:prstGeom>
          <a:solidFill>
            <a:srgbClr val="268253"/>
          </a:solidFill>
          <a:ln>
            <a:solidFill>
              <a:srgbClr val="268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83863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456432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C4874"/>
                </a:solidFill>
              </a:defRPr>
            </a:pPr>
            <a:r>
              <a:t>Token is issued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456432"/>
            <a:ext cx="7360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The authorization service validates the client and returns a short-lived access token.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562855"/>
            <a:ext cx="594360" cy="594360"/>
          </a:xfrm>
          <a:prstGeom prst="ellipse">
            <a:avLst/>
          </a:prstGeom>
          <a:solidFill>
            <a:srgbClr val="1A6FB5"/>
          </a:solidFill>
          <a:ln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62855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535423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C4874"/>
                </a:solidFill>
              </a:defRPr>
            </a:pPr>
            <a:r>
              <a:t>OIC calls 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4535423"/>
            <a:ext cx="7360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OIC sends the access token with the Fusion REST/SOAP API request over HTTPS.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06440"/>
            <a:ext cx="10652760" cy="502920"/>
          </a:xfrm>
          <a:prstGeom prst="roundRect">
            <a:avLst/>
          </a:prstGeom>
          <a:solidFill>
            <a:srgbClr val="F7F9FB"/>
          </a:solidFill>
          <a:ln w="25400">
            <a:solidFill>
              <a:srgbClr val="0C4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43016"/>
            <a:ext cx="10287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C4874"/>
                </a:solidFill>
              </a:defRPr>
            </a:pPr>
            <a:r>
              <a:t>Security: least-privilege scopes • secret rotation • restricted IAM access • HTTPS/TLS • no secrets in source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C4874"/>
                </a:solidFill>
              </a:defRPr>
            </a:pPr>
            <a:r>
              <a:t>Recommended Management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1064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Clear separation of identity, secrets, integration runtime, and API access.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331720" cy="3977639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D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554480"/>
            <a:ext cx="21122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CD2323"/>
                </a:solidFill>
              </a:defRPr>
            </a:pPr>
            <a:r>
              <a:t>1. Identity / OAuth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Register confidential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Define scopes / permissions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Issue credentials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508760"/>
            <a:ext cx="2331720" cy="3977639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6F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554480"/>
            <a:ext cx="21122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6F46A0"/>
                </a:solidFill>
              </a:defRPr>
            </a:pPr>
            <a:r>
              <a:t>2. Secrets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24028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Store approved secrets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06324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Restrict access with IAM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88620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Rotate credentials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508760"/>
            <a:ext cx="2331720" cy="3977639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554480"/>
            <a:ext cx="21122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A6FB5"/>
                </a:solidFill>
              </a:defRPr>
            </a:pPr>
            <a:r>
              <a:t>3. Integration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4028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OIC Gen 3 connections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4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Orchestration / retry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88620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Monitoring / logging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508760"/>
            <a:ext cx="2331720" cy="3977639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268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1554480"/>
            <a:ext cx="21122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68253"/>
                </a:solidFill>
              </a:defRPr>
            </a:pPr>
            <a:r>
              <a:t>4. SaaS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24028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Fusion REST / SOAP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06324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Bearer-token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88620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</a:defRPr>
            </a:pPr>
            <a:r>
              <a:t>• Business services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17520" y="3493008"/>
            <a:ext cx="457200" cy="0"/>
          </a:xfrm>
          <a:prstGeom prst="line">
            <a:avLst/>
          </a:prstGeom>
          <a:ln w="31750">
            <a:solidFill>
              <a:srgbClr val="0C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52160" y="3493008"/>
            <a:ext cx="457200" cy="0"/>
          </a:xfrm>
          <a:prstGeom prst="line">
            <a:avLst/>
          </a:prstGeom>
          <a:ln w="31750">
            <a:solidFill>
              <a:srgbClr val="0C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86800" y="3493008"/>
            <a:ext cx="457200" cy="0"/>
          </a:xfrm>
          <a:prstGeom prst="line">
            <a:avLst/>
          </a:prstGeom>
          <a:ln w="31750">
            <a:solidFill>
              <a:srgbClr val="0C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5852160"/>
            <a:ext cx="10698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C4874"/>
                </a:solidFill>
              </a:defRPr>
            </a:pPr>
            <a:r>
              <a:t>Outcome: credentials are centrally controlled, OIC remains the integration runtime, and Fusion APIs are accessed through authenticated HTTPS calls.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